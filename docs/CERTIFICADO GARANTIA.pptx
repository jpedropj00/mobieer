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0033000" cy="142113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ooper BT Light" panose="020B0604020202020204" charset="0"/>
      <p:regular r:id="rId14"/>
    </p:embeddedFont>
    <p:embeddedFont>
      <p:font typeface="Fraunces" panose="020B0604020202020204" charset="0"/>
      <p:regular r:id="rId15"/>
    </p:embeddedFont>
    <p:embeddedFont>
      <p:font typeface="Georgia Pro" panose="02040502050405020303" pitchFamily="18" charset="0"/>
      <p:regular r:id="rId16"/>
      <p:bold r:id="rId17"/>
      <p:italic r:id="rId18"/>
      <p:boldItalic r:id="rId19"/>
    </p:embeddedFont>
    <p:embeddedFont>
      <p:font typeface="Inter" panose="020B0604020202020204" charset="0"/>
      <p:regular r:id="rId20"/>
    </p:embeddedFont>
    <p:embeddedFont>
      <p:font typeface="Inter Bold" panose="020B0604020202020204" charset="0"/>
      <p:regular r:id="rId21"/>
    </p:embeddedFont>
    <p:embeddedFont>
      <p:font typeface="Nourd" panose="020B0604020202020204" charset="0"/>
      <p:regular r:id="rId22"/>
    </p:embeddedFont>
    <p:embeddedFont>
      <p:font typeface="Nourd Light" panose="020B0604020202020204" charset="0"/>
      <p:regular r:id="rId23"/>
    </p:embeddedFont>
    <p:embeddedFont>
      <p:font typeface="Nourd Semi-Bold" panose="020B0604020202020204" charset="0"/>
      <p:regular r:id="rId24"/>
    </p:embeddedFont>
    <p:embeddedFont>
      <p:font typeface="Nunito" pitchFamily="2" charset="0"/>
      <p:regular r:id="rId25"/>
      <p:bold r:id="rId26"/>
      <p:italic r:id="rId27"/>
      <p:boldItalic r:id="rId28"/>
    </p:embeddedFont>
    <p:embeddedFont>
      <p:font typeface="Nunito Bold" charset="0"/>
      <p:regular r:id="rId29"/>
    </p:embeddedFont>
    <p:embeddedFont>
      <p:font typeface="Nunito Semi-Bold" panose="020B0604020202020204" charset="0"/>
      <p:regular r:id="rId30"/>
    </p:embeddedFont>
    <p:embeddedFont>
      <p:font typeface="Nunito Ultra-Bold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318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font" Target="fonts/font19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openxmlformats.org/officeDocument/2006/relationships/font" Target="fonts/font2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font" Target="fonts/font18.fntdata"/><Relationship Id="rId30" Type="http://schemas.openxmlformats.org/officeDocument/2006/relationships/font" Target="fonts/font2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21" Type="http://schemas.openxmlformats.org/officeDocument/2006/relationships/image" Target="../media/image31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23" Type="http://schemas.openxmlformats.org/officeDocument/2006/relationships/image" Target="../media/image33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3" Type="http://schemas.openxmlformats.org/officeDocument/2006/relationships/image" Target="../media/image36.png"/><Relationship Id="rId21" Type="http://schemas.openxmlformats.org/officeDocument/2006/relationships/image" Target="../media/image54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image" Target="../media/image35.png"/><Relationship Id="rId16" Type="http://schemas.openxmlformats.org/officeDocument/2006/relationships/image" Target="../media/image49.png"/><Relationship Id="rId20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57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23" Type="http://schemas.openxmlformats.org/officeDocument/2006/relationships/image" Target="../media/image56.png"/><Relationship Id="rId10" Type="http://schemas.openxmlformats.org/officeDocument/2006/relationships/image" Target="../media/image43.png"/><Relationship Id="rId19" Type="http://schemas.openxmlformats.org/officeDocument/2006/relationships/image" Target="../media/image52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Relationship Id="rId22" Type="http://schemas.openxmlformats.org/officeDocument/2006/relationships/image" Target="../media/image5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039350" cy="14211300"/>
          </a:xfrm>
          <a:custGeom>
            <a:avLst/>
            <a:gdLst/>
            <a:ahLst/>
            <a:cxnLst/>
            <a:rect l="l" t="t" r="r" b="b"/>
            <a:pathLst>
              <a:path w="10039350" h="14211300">
                <a:moveTo>
                  <a:pt x="0" y="0"/>
                </a:moveTo>
                <a:lnTo>
                  <a:pt x="10039350" y="0"/>
                </a:lnTo>
                <a:lnTo>
                  <a:pt x="10039350" y="14211300"/>
                </a:lnTo>
                <a:lnTo>
                  <a:pt x="0" y="14211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0" y="0"/>
            <a:ext cx="1162050" cy="895350"/>
          </a:xfrm>
          <a:custGeom>
            <a:avLst/>
            <a:gdLst/>
            <a:ahLst/>
            <a:cxnLst/>
            <a:rect l="l" t="t" r="r" b="b"/>
            <a:pathLst>
              <a:path w="1162050" h="895350">
                <a:moveTo>
                  <a:pt x="0" y="0"/>
                </a:moveTo>
                <a:lnTo>
                  <a:pt x="1162050" y="0"/>
                </a:lnTo>
                <a:lnTo>
                  <a:pt x="116205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33266" y="11561018"/>
            <a:ext cx="6264554" cy="2070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85"/>
              </a:lnSpc>
            </a:pPr>
            <a:r>
              <a:rPr lang="en-US" sz="538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MANUAL DE USO</a:t>
            </a:r>
          </a:p>
          <a:p>
            <a:pPr algn="l">
              <a:lnSpc>
                <a:spcPts val="5385"/>
              </a:lnSpc>
            </a:pPr>
            <a:r>
              <a:rPr lang="en-US" sz="538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 CERTIFICADO</a:t>
            </a:r>
          </a:p>
          <a:p>
            <a:pPr algn="l">
              <a:lnSpc>
                <a:spcPts val="5385"/>
              </a:lnSpc>
            </a:pPr>
            <a:r>
              <a:rPr lang="en-US" sz="538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 GARANTIA</a:t>
            </a:r>
          </a:p>
        </p:txBody>
      </p:sp>
      <p:sp>
        <p:nvSpPr>
          <p:cNvPr id="6" name="Freeform 6"/>
          <p:cNvSpPr/>
          <p:nvPr/>
        </p:nvSpPr>
        <p:spPr>
          <a:xfrm>
            <a:off x="771525" y="13677900"/>
            <a:ext cx="781050" cy="180975"/>
          </a:xfrm>
          <a:custGeom>
            <a:avLst/>
            <a:gdLst/>
            <a:ahLst/>
            <a:cxnLst/>
            <a:rect l="l" t="t" r="r" b="b"/>
            <a:pathLst>
              <a:path w="781050" h="180975">
                <a:moveTo>
                  <a:pt x="0" y="0"/>
                </a:moveTo>
                <a:lnTo>
                  <a:pt x="781050" y="0"/>
                </a:lnTo>
                <a:lnTo>
                  <a:pt x="781050" y="180975"/>
                </a:lnTo>
                <a:lnTo>
                  <a:pt x="0" y="1809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46847" y="13705274"/>
            <a:ext cx="4798809" cy="259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7"/>
              </a:lnSpc>
            </a:pPr>
            <a:r>
              <a:rPr lang="en-US" sz="1947">
                <a:solidFill>
                  <a:srgbClr val="FF914D"/>
                </a:solidFill>
                <a:latin typeface="Inter"/>
                <a:ea typeface="Inter"/>
                <a:cs typeface="Inter"/>
                <a:sym typeface="Inter"/>
              </a:rPr>
              <a:t>Criando ambientes que contam histórias.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71456" y="273094"/>
            <a:ext cx="451771" cy="354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1"/>
              </a:lnSpc>
            </a:pPr>
            <a:r>
              <a:rPr lang="en-US" sz="2691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7F8B70B-0131-4A98-A0AC-F26582DAA9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6" t="32130" r="8228" b="30035"/>
          <a:stretch/>
        </p:blipFill>
        <p:spPr>
          <a:xfrm>
            <a:off x="2349500" y="447675"/>
            <a:ext cx="5738920" cy="17689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132" y="0"/>
            <a:ext cx="10047482" cy="14199807"/>
          </a:xfrm>
          <a:custGeom>
            <a:avLst/>
            <a:gdLst/>
            <a:ahLst/>
            <a:cxnLst/>
            <a:rect l="l" t="t" r="r" b="b"/>
            <a:pathLst>
              <a:path w="10047482" h="14199807">
                <a:moveTo>
                  <a:pt x="0" y="0"/>
                </a:moveTo>
                <a:lnTo>
                  <a:pt x="10047482" y="0"/>
                </a:lnTo>
                <a:lnTo>
                  <a:pt x="10047482" y="14199807"/>
                </a:lnTo>
                <a:lnTo>
                  <a:pt x="0" y="141998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8132" y="0"/>
            <a:ext cx="6190392" cy="14199807"/>
          </a:xfrm>
          <a:custGeom>
            <a:avLst/>
            <a:gdLst/>
            <a:ahLst/>
            <a:cxnLst/>
            <a:rect l="l" t="t" r="r" b="b"/>
            <a:pathLst>
              <a:path w="6190392" h="14199807">
                <a:moveTo>
                  <a:pt x="0" y="0"/>
                </a:moveTo>
                <a:lnTo>
                  <a:pt x="6190392" y="0"/>
                </a:lnTo>
                <a:lnTo>
                  <a:pt x="6190392" y="14199807"/>
                </a:lnTo>
                <a:lnTo>
                  <a:pt x="0" y="141998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972739" y="0"/>
            <a:ext cx="4066611" cy="14199807"/>
          </a:xfrm>
          <a:custGeom>
            <a:avLst/>
            <a:gdLst/>
            <a:ahLst/>
            <a:cxnLst/>
            <a:rect l="l" t="t" r="r" b="b"/>
            <a:pathLst>
              <a:path w="4066611" h="14199807">
                <a:moveTo>
                  <a:pt x="0" y="0"/>
                </a:moveTo>
                <a:lnTo>
                  <a:pt x="4066611" y="0"/>
                </a:lnTo>
                <a:lnTo>
                  <a:pt x="4066611" y="14199807"/>
                </a:lnTo>
                <a:lnTo>
                  <a:pt x="0" y="141998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82341" y="0"/>
            <a:ext cx="971415" cy="1066652"/>
          </a:xfrm>
          <a:custGeom>
            <a:avLst/>
            <a:gdLst/>
            <a:ahLst/>
            <a:cxnLst/>
            <a:rect l="l" t="t" r="r" b="b"/>
            <a:pathLst>
              <a:path w="971415" h="1066652">
                <a:moveTo>
                  <a:pt x="0" y="0"/>
                </a:moveTo>
                <a:lnTo>
                  <a:pt x="971416" y="0"/>
                </a:lnTo>
                <a:lnTo>
                  <a:pt x="971416" y="1066652"/>
                </a:lnTo>
                <a:lnTo>
                  <a:pt x="0" y="10666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85144" y="2244553"/>
            <a:ext cx="3787901" cy="855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6"/>
              </a:lnSpc>
            </a:pPr>
            <a:r>
              <a:rPr lang="en-US" sz="6306" spc="-126">
                <a:solidFill>
                  <a:srgbClr val="C85A27"/>
                </a:solidFill>
                <a:latin typeface="Georgia Pro"/>
                <a:ea typeface="Georgia Pro"/>
                <a:cs typeface="Georgia Pro"/>
                <a:sym typeface="Georgia Pro"/>
              </a:rPr>
              <a:t>Bem-vindo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144" y="3116403"/>
            <a:ext cx="3375954" cy="844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5"/>
              </a:lnSpc>
            </a:pPr>
            <a:r>
              <a:rPr lang="en-US" sz="6235" spc="-124">
                <a:solidFill>
                  <a:srgbClr val="221E1F"/>
                </a:solidFill>
                <a:latin typeface="Georgia Pro"/>
                <a:ea typeface="Georgia Pro"/>
                <a:cs typeface="Georgia Pro"/>
                <a:sym typeface="Georgia Pro"/>
              </a:rPr>
              <a:t>à Mobieer</a:t>
            </a:r>
          </a:p>
        </p:txBody>
      </p:sp>
      <p:sp>
        <p:nvSpPr>
          <p:cNvPr id="8" name="Freeform 8"/>
          <p:cNvSpPr/>
          <p:nvPr/>
        </p:nvSpPr>
        <p:spPr>
          <a:xfrm>
            <a:off x="563288" y="4076135"/>
            <a:ext cx="980939" cy="361900"/>
          </a:xfrm>
          <a:custGeom>
            <a:avLst/>
            <a:gdLst/>
            <a:ahLst/>
            <a:cxnLst/>
            <a:rect l="l" t="t" r="r" b="b"/>
            <a:pathLst>
              <a:path w="980939" h="361900">
                <a:moveTo>
                  <a:pt x="0" y="0"/>
                </a:moveTo>
                <a:lnTo>
                  <a:pt x="980939" y="0"/>
                </a:lnTo>
                <a:lnTo>
                  <a:pt x="980939" y="361900"/>
                </a:lnTo>
                <a:lnTo>
                  <a:pt x="0" y="3619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63288" y="11352226"/>
            <a:ext cx="1561884" cy="1428552"/>
          </a:xfrm>
          <a:custGeom>
            <a:avLst/>
            <a:gdLst/>
            <a:ahLst/>
            <a:cxnLst/>
            <a:rect l="l" t="t" r="r" b="b"/>
            <a:pathLst>
              <a:path w="1561884" h="1428552">
                <a:moveTo>
                  <a:pt x="0" y="0"/>
                </a:moveTo>
                <a:lnTo>
                  <a:pt x="1561884" y="0"/>
                </a:lnTo>
                <a:lnTo>
                  <a:pt x="1561884" y="1428552"/>
                </a:lnTo>
                <a:lnTo>
                  <a:pt x="0" y="14285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95191" y="13127870"/>
            <a:ext cx="3968756" cy="775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1"/>
              </a:lnSpc>
            </a:pPr>
            <a:r>
              <a:rPr lang="en-US" sz="1982">
                <a:solidFill>
                  <a:srgbClr val="221E1F"/>
                </a:solidFill>
                <a:latin typeface="Nourd"/>
                <a:ea typeface="Nourd"/>
                <a:cs typeface="Nourd"/>
                <a:sym typeface="Nourd"/>
              </a:rPr>
              <a:t>Cuidar bem é valorizar o que</a:t>
            </a:r>
          </a:p>
          <a:p>
            <a:pPr algn="l">
              <a:lnSpc>
                <a:spcPts val="3171"/>
              </a:lnSpc>
            </a:pPr>
            <a:r>
              <a:rPr lang="en-US" sz="1982">
                <a:solidFill>
                  <a:srgbClr val="221E1F"/>
                </a:solidFill>
                <a:latin typeface="Nourd"/>
                <a:ea typeface="Nourd"/>
                <a:cs typeface="Nourd"/>
                <a:sym typeface="Nourd"/>
              </a:rPr>
              <a:t>foi feito especialmente para você.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5144" y="5037486"/>
            <a:ext cx="4923266" cy="5690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1805">
                <a:solidFill>
                  <a:srgbClr val="221E1F"/>
                </a:solidFill>
                <a:latin typeface="Nourd"/>
                <a:ea typeface="Nourd"/>
                <a:cs typeface="Nourd"/>
                <a:sym typeface="Nourd"/>
              </a:rPr>
              <a:t>Obrigado por escolher a Mobieer Planejados.</a:t>
            </a:r>
          </a:p>
          <a:p>
            <a:pPr algn="l">
              <a:lnSpc>
                <a:spcPts val="3249"/>
              </a:lnSpc>
            </a:pPr>
            <a:endParaRPr lang="en-US" sz="1805">
              <a:solidFill>
                <a:srgbClr val="221E1F"/>
              </a:solidFill>
              <a:latin typeface="Nourd"/>
              <a:ea typeface="Nourd"/>
              <a:cs typeface="Nourd"/>
              <a:sym typeface="Nourd"/>
            </a:endParaRPr>
          </a:p>
          <a:p>
            <a:pPr algn="l">
              <a:lnSpc>
                <a:spcPts val="3249"/>
              </a:lnSpc>
            </a:pPr>
            <a:r>
              <a:rPr lang="en-US" sz="1805">
                <a:solidFill>
                  <a:srgbClr val="221E1F"/>
                </a:solidFill>
                <a:latin typeface="Nourd"/>
                <a:ea typeface="Nourd"/>
                <a:cs typeface="Nourd"/>
                <a:sym typeface="Nourd"/>
              </a:rPr>
              <a:t>Cada ambiente é produzido sob medida, com materiais selecionados, ferragens de alta qualidade e acabamento criterioso.</a:t>
            </a:r>
          </a:p>
          <a:p>
            <a:pPr algn="l">
              <a:lnSpc>
                <a:spcPts val="3249"/>
              </a:lnSpc>
            </a:pPr>
            <a:endParaRPr lang="en-US" sz="1805">
              <a:solidFill>
                <a:srgbClr val="221E1F"/>
              </a:solidFill>
              <a:latin typeface="Nourd"/>
              <a:ea typeface="Nourd"/>
              <a:cs typeface="Nourd"/>
              <a:sym typeface="Nourd"/>
            </a:endParaRPr>
          </a:p>
          <a:p>
            <a:pPr algn="l">
              <a:lnSpc>
                <a:spcPts val="3249"/>
              </a:lnSpc>
            </a:pPr>
            <a:r>
              <a:rPr lang="en-US" sz="1805">
                <a:solidFill>
                  <a:srgbClr val="221E1F"/>
                </a:solidFill>
                <a:latin typeface="Nourd"/>
                <a:ea typeface="Nourd"/>
                <a:cs typeface="Nourd"/>
                <a:sym typeface="Nourd"/>
              </a:rPr>
              <a:t>Este manual reúne as principais orientações para conservação do seu mobiliário e apresenta as condições da garantia oferecida pela Mobieer.</a:t>
            </a:r>
          </a:p>
          <a:p>
            <a:pPr algn="l">
              <a:lnSpc>
                <a:spcPts val="3249"/>
              </a:lnSpc>
            </a:pPr>
            <a:endParaRPr lang="en-US" sz="1805">
              <a:solidFill>
                <a:srgbClr val="221E1F"/>
              </a:solidFill>
              <a:latin typeface="Nourd"/>
              <a:ea typeface="Nourd"/>
              <a:cs typeface="Nourd"/>
              <a:sym typeface="Nourd"/>
            </a:endParaRPr>
          </a:p>
          <a:p>
            <a:pPr algn="l">
              <a:lnSpc>
                <a:spcPts val="3249"/>
              </a:lnSpc>
            </a:pPr>
            <a:r>
              <a:rPr lang="en-US" sz="1805">
                <a:solidFill>
                  <a:srgbClr val="221E1F"/>
                </a:solidFill>
                <a:latin typeface="Nourd"/>
                <a:ea typeface="Nourd"/>
                <a:cs typeface="Nourd"/>
                <a:sym typeface="Nourd"/>
              </a:rPr>
              <a:t>Seguindo essas recomendações, seus móveis permanecerão bonitos e funcionais por muitos anos.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4147" y="433200"/>
            <a:ext cx="411947" cy="331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9"/>
              </a:lnSpc>
            </a:pPr>
            <a:r>
              <a:rPr lang="en-US" sz="2549" spc="-50">
                <a:solidFill>
                  <a:srgbClr val="F6F6F6"/>
                </a:solidFill>
                <a:latin typeface="Nourd"/>
                <a:ea typeface="Nourd"/>
                <a:cs typeface="Nourd"/>
                <a:sym typeface="Nou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0106" y="-113362"/>
            <a:ext cx="10204122" cy="14332065"/>
          </a:xfrm>
          <a:custGeom>
            <a:avLst/>
            <a:gdLst/>
            <a:ahLst/>
            <a:cxnLst/>
            <a:rect l="l" t="t" r="r" b="b"/>
            <a:pathLst>
              <a:path w="10204122" h="14332065">
                <a:moveTo>
                  <a:pt x="0" y="0"/>
                </a:moveTo>
                <a:lnTo>
                  <a:pt x="10204122" y="0"/>
                </a:lnTo>
                <a:lnTo>
                  <a:pt x="10204122" y="14332065"/>
                </a:lnTo>
                <a:lnTo>
                  <a:pt x="0" y="143320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4122" y="-119080"/>
            <a:ext cx="10123472" cy="14330380"/>
          </a:xfrm>
          <a:custGeom>
            <a:avLst/>
            <a:gdLst/>
            <a:ahLst/>
            <a:cxnLst/>
            <a:rect l="l" t="t" r="r" b="b"/>
            <a:pathLst>
              <a:path w="10123472" h="14330380">
                <a:moveTo>
                  <a:pt x="0" y="0"/>
                </a:moveTo>
                <a:lnTo>
                  <a:pt x="10123472" y="0"/>
                </a:lnTo>
                <a:lnTo>
                  <a:pt x="10123472" y="14330380"/>
                </a:lnTo>
                <a:lnTo>
                  <a:pt x="0" y="1433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7974" y="-119080"/>
            <a:ext cx="979691" cy="902852"/>
          </a:xfrm>
          <a:custGeom>
            <a:avLst/>
            <a:gdLst/>
            <a:ahLst/>
            <a:cxnLst/>
            <a:rect l="l" t="t" r="r" b="b"/>
            <a:pathLst>
              <a:path w="979691" h="902852">
                <a:moveTo>
                  <a:pt x="0" y="0"/>
                </a:moveTo>
                <a:lnTo>
                  <a:pt x="979691" y="0"/>
                </a:lnTo>
                <a:lnTo>
                  <a:pt x="979691" y="902852"/>
                </a:lnTo>
                <a:lnTo>
                  <a:pt x="0" y="9028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32175" y="119225"/>
            <a:ext cx="435309" cy="450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sz="2678" b="1">
                <a:solidFill>
                  <a:srgbClr val="F4F4F4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9954" y="1081566"/>
            <a:ext cx="2935807" cy="808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74"/>
              </a:lnSpc>
            </a:pPr>
            <a:r>
              <a:rPr lang="en-US" sz="6074">
                <a:solidFill>
                  <a:srgbClr val="E46B18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Garantia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0324" y="2747015"/>
            <a:ext cx="5831120" cy="616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20" b="1">
                <a:solidFill>
                  <a:srgbClr val="1B1B1B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A Mobieer Planejados oferece garantia contra defeitos de fabricação e montagem, conforme prazos abaixo.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77362" y="3628063"/>
            <a:ext cx="1012347" cy="258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534" b="1">
                <a:solidFill>
                  <a:srgbClr val="1B1B1B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PRODUTO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47741" y="3628063"/>
            <a:ext cx="1062965" cy="258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534" b="1">
                <a:solidFill>
                  <a:srgbClr val="1B1B1B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GARANTIA</a:t>
            </a:r>
          </a:p>
        </p:txBody>
      </p:sp>
      <p:sp>
        <p:nvSpPr>
          <p:cNvPr id="9" name="Freeform 9"/>
          <p:cNvSpPr/>
          <p:nvPr/>
        </p:nvSpPr>
        <p:spPr>
          <a:xfrm>
            <a:off x="492167" y="3818893"/>
            <a:ext cx="8577097" cy="4130069"/>
          </a:xfrm>
          <a:custGeom>
            <a:avLst/>
            <a:gdLst/>
            <a:ahLst/>
            <a:cxnLst/>
            <a:rect l="l" t="t" r="r" b="b"/>
            <a:pathLst>
              <a:path w="8577097" h="4130069">
                <a:moveTo>
                  <a:pt x="0" y="0"/>
                </a:moveTo>
                <a:lnTo>
                  <a:pt x="8577097" y="0"/>
                </a:lnTo>
                <a:lnTo>
                  <a:pt x="8577097" y="4130069"/>
                </a:lnTo>
                <a:lnTo>
                  <a:pt x="0" y="41300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92167" y="4894632"/>
            <a:ext cx="8577097" cy="182491"/>
          </a:xfrm>
          <a:custGeom>
            <a:avLst/>
            <a:gdLst/>
            <a:ahLst/>
            <a:cxnLst/>
            <a:rect l="l" t="t" r="r" b="b"/>
            <a:pathLst>
              <a:path w="8577097" h="182491">
                <a:moveTo>
                  <a:pt x="0" y="0"/>
                </a:moveTo>
                <a:lnTo>
                  <a:pt x="8577097" y="0"/>
                </a:lnTo>
                <a:lnTo>
                  <a:pt x="8577097" y="182492"/>
                </a:lnTo>
                <a:lnTo>
                  <a:pt x="0" y="1824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92167" y="5787880"/>
            <a:ext cx="8577097" cy="192096"/>
          </a:xfrm>
          <a:custGeom>
            <a:avLst/>
            <a:gdLst/>
            <a:ahLst/>
            <a:cxnLst/>
            <a:rect l="l" t="t" r="r" b="b"/>
            <a:pathLst>
              <a:path w="8577097" h="192096">
                <a:moveTo>
                  <a:pt x="0" y="0"/>
                </a:moveTo>
                <a:lnTo>
                  <a:pt x="8577097" y="0"/>
                </a:lnTo>
                <a:lnTo>
                  <a:pt x="8577097" y="192096"/>
                </a:lnTo>
                <a:lnTo>
                  <a:pt x="0" y="1920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92167" y="6863619"/>
            <a:ext cx="8577097" cy="182491"/>
          </a:xfrm>
          <a:custGeom>
            <a:avLst/>
            <a:gdLst/>
            <a:ahLst/>
            <a:cxnLst/>
            <a:rect l="l" t="t" r="r" b="b"/>
            <a:pathLst>
              <a:path w="8577097" h="182491">
                <a:moveTo>
                  <a:pt x="0" y="0"/>
                </a:moveTo>
                <a:lnTo>
                  <a:pt x="8577097" y="0"/>
                </a:lnTo>
                <a:lnTo>
                  <a:pt x="8577097" y="182491"/>
                </a:lnTo>
                <a:lnTo>
                  <a:pt x="0" y="1824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92167" y="3818893"/>
            <a:ext cx="6435224" cy="4130069"/>
          </a:xfrm>
          <a:custGeom>
            <a:avLst/>
            <a:gdLst/>
            <a:ahLst/>
            <a:cxnLst/>
            <a:rect l="l" t="t" r="r" b="b"/>
            <a:pathLst>
              <a:path w="6435224" h="4130069">
                <a:moveTo>
                  <a:pt x="0" y="0"/>
                </a:moveTo>
                <a:lnTo>
                  <a:pt x="6435224" y="0"/>
                </a:lnTo>
                <a:lnTo>
                  <a:pt x="6435224" y="4130069"/>
                </a:lnTo>
                <a:lnTo>
                  <a:pt x="0" y="41300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85964" y="3991780"/>
            <a:ext cx="595498" cy="912457"/>
          </a:xfrm>
          <a:custGeom>
            <a:avLst/>
            <a:gdLst/>
            <a:ahLst/>
            <a:cxnLst/>
            <a:rect l="l" t="t" r="r" b="b"/>
            <a:pathLst>
              <a:path w="595498" h="912457">
                <a:moveTo>
                  <a:pt x="0" y="0"/>
                </a:moveTo>
                <a:lnTo>
                  <a:pt x="595498" y="0"/>
                </a:lnTo>
                <a:lnTo>
                  <a:pt x="595498" y="912457"/>
                </a:lnTo>
                <a:lnTo>
                  <a:pt x="0" y="91245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879831" y="4320310"/>
            <a:ext cx="3199017" cy="326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8"/>
              </a:lnSpc>
            </a:pPr>
            <a:r>
              <a:rPr lang="en-US" sz="1891" b="1">
                <a:solidFill>
                  <a:srgbClr val="F4F4F4"/>
                </a:solidFill>
                <a:latin typeface="Nunito Bold"/>
                <a:ea typeface="Nunito Bold"/>
                <a:cs typeface="Nunito Bold"/>
                <a:sym typeface="Nunito Bold"/>
              </a:rPr>
              <a:t>ESTRUTURA E MONTAGEM</a:t>
            </a:r>
          </a:p>
        </p:txBody>
      </p:sp>
      <p:sp>
        <p:nvSpPr>
          <p:cNvPr id="16" name="Freeform 16"/>
          <p:cNvSpPr/>
          <p:nvPr/>
        </p:nvSpPr>
        <p:spPr>
          <a:xfrm>
            <a:off x="885964" y="5067519"/>
            <a:ext cx="595498" cy="729966"/>
          </a:xfrm>
          <a:custGeom>
            <a:avLst/>
            <a:gdLst/>
            <a:ahLst/>
            <a:cxnLst/>
            <a:rect l="l" t="t" r="r" b="b"/>
            <a:pathLst>
              <a:path w="595498" h="729966">
                <a:moveTo>
                  <a:pt x="0" y="0"/>
                </a:moveTo>
                <a:lnTo>
                  <a:pt x="595498" y="0"/>
                </a:lnTo>
                <a:lnTo>
                  <a:pt x="595498" y="729965"/>
                </a:lnTo>
                <a:lnTo>
                  <a:pt x="0" y="72996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879831" y="5138053"/>
            <a:ext cx="1498274" cy="343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8"/>
              </a:lnSpc>
            </a:pPr>
            <a:r>
              <a:rPr lang="en-US" sz="1963" b="1">
                <a:solidFill>
                  <a:srgbClr val="F4F4F4"/>
                </a:solidFill>
                <a:latin typeface="Nunito Bold"/>
                <a:ea typeface="Nunito Bold"/>
                <a:cs typeface="Nunito Bold"/>
                <a:sym typeface="Nunito Bold"/>
              </a:rPr>
              <a:t>FERRAGENS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79831" y="5497100"/>
            <a:ext cx="3755808" cy="275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8"/>
              </a:lnSpc>
            </a:pPr>
            <a:r>
              <a:rPr lang="en-US" sz="1641">
                <a:solidFill>
                  <a:srgbClr val="F4F4F4"/>
                </a:solidFill>
                <a:latin typeface="Nunito"/>
                <a:ea typeface="Nunito"/>
                <a:cs typeface="Nunito"/>
                <a:sym typeface="Nunito"/>
              </a:rPr>
              <a:t>dobradiças, corrediças, roldanas, pistões</a:t>
            </a:r>
          </a:p>
        </p:txBody>
      </p:sp>
      <p:sp>
        <p:nvSpPr>
          <p:cNvPr id="19" name="Freeform 19"/>
          <p:cNvSpPr/>
          <p:nvPr/>
        </p:nvSpPr>
        <p:spPr>
          <a:xfrm>
            <a:off x="885964" y="6143258"/>
            <a:ext cx="595498" cy="547474"/>
          </a:xfrm>
          <a:custGeom>
            <a:avLst/>
            <a:gdLst/>
            <a:ahLst/>
            <a:cxnLst/>
            <a:rect l="l" t="t" r="r" b="b"/>
            <a:pathLst>
              <a:path w="595498" h="547474">
                <a:moveTo>
                  <a:pt x="0" y="0"/>
                </a:moveTo>
                <a:lnTo>
                  <a:pt x="595498" y="0"/>
                </a:lnTo>
                <a:lnTo>
                  <a:pt x="595498" y="547474"/>
                </a:lnTo>
                <a:lnTo>
                  <a:pt x="0" y="54747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879831" y="6255823"/>
            <a:ext cx="1569138" cy="343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8"/>
              </a:lnSpc>
            </a:pPr>
            <a:r>
              <a:rPr lang="en-US" sz="1963" b="1">
                <a:solidFill>
                  <a:srgbClr val="F4F4F4"/>
                </a:solidFill>
                <a:latin typeface="Nunito Bold"/>
                <a:ea typeface="Nunito Bold"/>
                <a:cs typeface="Nunito Bold"/>
                <a:sym typeface="Nunito Bold"/>
              </a:rPr>
              <a:t>PUXADORES</a:t>
            </a:r>
          </a:p>
        </p:txBody>
      </p:sp>
      <p:sp>
        <p:nvSpPr>
          <p:cNvPr id="21" name="Freeform 21"/>
          <p:cNvSpPr/>
          <p:nvPr/>
        </p:nvSpPr>
        <p:spPr>
          <a:xfrm>
            <a:off x="885964" y="7046110"/>
            <a:ext cx="595498" cy="720361"/>
          </a:xfrm>
          <a:custGeom>
            <a:avLst/>
            <a:gdLst/>
            <a:ahLst/>
            <a:cxnLst/>
            <a:rect l="l" t="t" r="r" b="b"/>
            <a:pathLst>
              <a:path w="595498" h="720361">
                <a:moveTo>
                  <a:pt x="0" y="0"/>
                </a:moveTo>
                <a:lnTo>
                  <a:pt x="595498" y="0"/>
                </a:lnTo>
                <a:lnTo>
                  <a:pt x="595498" y="720361"/>
                </a:lnTo>
                <a:lnTo>
                  <a:pt x="0" y="72036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879831" y="7086985"/>
            <a:ext cx="1498274" cy="343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8"/>
              </a:lnSpc>
            </a:pPr>
            <a:r>
              <a:rPr lang="en-US" sz="1963" b="1">
                <a:solidFill>
                  <a:srgbClr val="F4F4F4"/>
                </a:solidFill>
                <a:latin typeface="Nunito Bold"/>
                <a:ea typeface="Nunito Bold"/>
                <a:cs typeface="Nunito Bold"/>
                <a:sym typeface="Nunito Bold"/>
              </a:rPr>
              <a:t>ARAMADOS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79831" y="7436050"/>
            <a:ext cx="3735561" cy="266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605">
                <a:solidFill>
                  <a:srgbClr val="F4F4F4"/>
                </a:solidFill>
                <a:latin typeface="Nunito"/>
                <a:ea typeface="Nunito"/>
                <a:cs typeface="Nunito"/>
                <a:sym typeface="Nunito"/>
              </a:rPr>
              <a:t>portaobjetos, porta pano, cabideiros, etc.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47741" y="4312522"/>
            <a:ext cx="1062965" cy="341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034" b="1">
                <a:solidFill>
                  <a:srgbClr val="1B1B1B"/>
                </a:solidFill>
                <a:latin typeface="Nunito Bold"/>
                <a:ea typeface="Nunito Bold"/>
                <a:cs typeface="Nunito Bold"/>
                <a:sym typeface="Nunito Bold"/>
              </a:rPr>
              <a:t>5 ANOS</a:t>
            </a:r>
          </a:p>
        </p:txBody>
      </p:sp>
      <p:sp>
        <p:nvSpPr>
          <p:cNvPr id="25" name="Freeform 25"/>
          <p:cNvSpPr/>
          <p:nvPr/>
        </p:nvSpPr>
        <p:spPr>
          <a:xfrm>
            <a:off x="300070" y="8294736"/>
            <a:ext cx="8961290" cy="4312561"/>
          </a:xfrm>
          <a:custGeom>
            <a:avLst/>
            <a:gdLst/>
            <a:ahLst/>
            <a:cxnLst/>
            <a:rect l="l" t="t" r="r" b="b"/>
            <a:pathLst>
              <a:path w="8961290" h="4312561">
                <a:moveTo>
                  <a:pt x="0" y="0"/>
                </a:moveTo>
                <a:lnTo>
                  <a:pt x="8961290" y="0"/>
                </a:lnTo>
                <a:lnTo>
                  <a:pt x="8961290" y="4312560"/>
                </a:lnTo>
                <a:lnTo>
                  <a:pt x="0" y="431256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078060" y="8650114"/>
            <a:ext cx="787595" cy="729966"/>
          </a:xfrm>
          <a:custGeom>
            <a:avLst/>
            <a:gdLst/>
            <a:ahLst/>
            <a:cxnLst/>
            <a:rect l="l" t="t" r="r" b="b"/>
            <a:pathLst>
              <a:path w="787595" h="729966">
                <a:moveTo>
                  <a:pt x="0" y="0"/>
                </a:moveTo>
                <a:lnTo>
                  <a:pt x="787595" y="0"/>
                </a:lnTo>
                <a:lnTo>
                  <a:pt x="787595" y="729965"/>
                </a:lnTo>
                <a:lnTo>
                  <a:pt x="0" y="72996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756126" y="9420879"/>
            <a:ext cx="1478027" cy="796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8"/>
              </a:lnSpc>
            </a:pPr>
            <a:r>
              <a:rPr lang="en-US" sz="1534" b="1">
                <a:solidFill>
                  <a:srgbClr val="1B1B1B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Mau uso, negligência e uso inadequado</a:t>
            </a:r>
          </a:p>
        </p:txBody>
      </p:sp>
      <p:sp>
        <p:nvSpPr>
          <p:cNvPr id="28" name="Freeform 28"/>
          <p:cNvSpPr/>
          <p:nvPr/>
        </p:nvSpPr>
        <p:spPr>
          <a:xfrm>
            <a:off x="3219933" y="8650114"/>
            <a:ext cx="787595" cy="729966"/>
          </a:xfrm>
          <a:custGeom>
            <a:avLst/>
            <a:gdLst/>
            <a:ahLst/>
            <a:cxnLst/>
            <a:rect l="l" t="t" r="r" b="b"/>
            <a:pathLst>
              <a:path w="787595" h="729966">
                <a:moveTo>
                  <a:pt x="0" y="0"/>
                </a:moveTo>
                <a:lnTo>
                  <a:pt x="787595" y="0"/>
                </a:lnTo>
                <a:lnTo>
                  <a:pt x="787595" y="729965"/>
                </a:lnTo>
                <a:lnTo>
                  <a:pt x="0" y="72996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3185759" y="9420879"/>
            <a:ext cx="911112" cy="796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8"/>
              </a:lnSpc>
            </a:pPr>
            <a:r>
              <a:rPr lang="en-US" sz="1534" b="1">
                <a:solidFill>
                  <a:srgbClr val="1B1B1B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Impactos, quedas e acidentes</a:t>
            </a:r>
          </a:p>
        </p:txBody>
      </p:sp>
      <p:sp>
        <p:nvSpPr>
          <p:cNvPr id="30" name="Freeform 30"/>
          <p:cNvSpPr/>
          <p:nvPr/>
        </p:nvSpPr>
        <p:spPr>
          <a:xfrm>
            <a:off x="5553903" y="8650114"/>
            <a:ext cx="595498" cy="729966"/>
          </a:xfrm>
          <a:custGeom>
            <a:avLst/>
            <a:gdLst/>
            <a:ahLst/>
            <a:cxnLst/>
            <a:rect l="l" t="t" r="r" b="b"/>
            <a:pathLst>
              <a:path w="595498" h="729966">
                <a:moveTo>
                  <a:pt x="0" y="0"/>
                </a:moveTo>
                <a:lnTo>
                  <a:pt x="595498" y="0"/>
                </a:lnTo>
                <a:lnTo>
                  <a:pt x="595498" y="729965"/>
                </a:lnTo>
                <a:lnTo>
                  <a:pt x="0" y="7299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4977614" y="9420879"/>
            <a:ext cx="1579262" cy="796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8"/>
              </a:lnSpc>
            </a:pPr>
            <a:r>
              <a:rPr lang="en-US" sz="1534" b="1">
                <a:solidFill>
                  <a:srgbClr val="1B1B1B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Água, infiltrações e excesso de umidade</a:t>
            </a:r>
          </a:p>
        </p:txBody>
      </p:sp>
      <p:sp>
        <p:nvSpPr>
          <p:cNvPr id="32" name="Freeform 32"/>
          <p:cNvSpPr/>
          <p:nvPr/>
        </p:nvSpPr>
        <p:spPr>
          <a:xfrm>
            <a:off x="7503680" y="8477227"/>
            <a:ext cx="787595" cy="902852"/>
          </a:xfrm>
          <a:custGeom>
            <a:avLst/>
            <a:gdLst/>
            <a:ahLst/>
            <a:cxnLst/>
            <a:rect l="l" t="t" r="r" b="b"/>
            <a:pathLst>
              <a:path w="787595" h="902852">
                <a:moveTo>
                  <a:pt x="0" y="0"/>
                </a:moveTo>
                <a:lnTo>
                  <a:pt x="787594" y="0"/>
                </a:lnTo>
                <a:lnTo>
                  <a:pt x="787594" y="902852"/>
                </a:lnTo>
                <a:lnTo>
                  <a:pt x="0" y="90285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7447741" y="9420879"/>
            <a:ext cx="951606" cy="796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8"/>
              </a:lnSpc>
            </a:pPr>
            <a:r>
              <a:rPr lang="en-US" sz="1534" b="1">
                <a:solidFill>
                  <a:srgbClr val="1B1B1B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Cupins e pragas de madeira</a:t>
            </a:r>
          </a:p>
        </p:txBody>
      </p:sp>
      <p:sp>
        <p:nvSpPr>
          <p:cNvPr id="34" name="Freeform 34"/>
          <p:cNvSpPr/>
          <p:nvPr/>
        </p:nvSpPr>
        <p:spPr>
          <a:xfrm>
            <a:off x="1078060" y="10628705"/>
            <a:ext cx="787595" cy="720361"/>
          </a:xfrm>
          <a:custGeom>
            <a:avLst/>
            <a:gdLst/>
            <a:ahLst/>
            <a:cxnLst/>
            <a:rect l="l" t="t" r="r" b="b"/>
            <a:pathLst>
              <a:path w="787595" h="720361">
                <a:moveTo>
                  <a:pt x="0" y="0"/>
                </a:moveTo>
                <a:lnTo>
                  <a:pt x="787595" y="0"/>
                </a:lnTo>
                <a:lnTo>
                  <a:pt x="787595" y="720361"/>
                </a:lnTo>
                <a:lnTo>
                  <a:pt x="0" y="72036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675138" y="11441463"/>
            <a:ext cx="1690620" cy="796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8"/>
              </a:lnSpc>
            </a:pPr>
            <a:r>
              <a:rPr lang="en-US" sz="1534" b="1">
                <a:solidFill>
                  <a:srgbClr val="1B1B1B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Produtos químicos inadequados ou abrasivos</a:t>
            </a:r>
          </a:p>
        </p:txBody>
      </p:sp>
      <p:sp>
        <p:nvSpPr>
          <p:cNvPr id="36" name="Freeform 36"/>
          <p:cNvSpPr/>
          <p:nvPr/>
        </p:nvSpPr>
        <p:spPr>
          <a:xfrm>
            <a:off x="3219933" y="10628705"/>
            <a:ext cx="787595" cy="720361"/>
          </a:xfrm>
          <a:custGeom>
            <a:avLst/>
            <a:gdLst/>
            <a:ahLst/>
            <a:cxnLst/>
            <a:rect l="l" t="t" r="r" b="b"/>
            <a:pathLst>
              <a:path w="787595" h="720361">
                <a:moveTo>
                  <a:pt x="0" y="0"/>
                </a:moveTo>
                <a:lnTo>
                  <a:pt x="787595" y="0"/>
                </a:lnTo>
                <a:lnTo>
                  <a:pt x="787595" y="720361"/>
                </a:lnTo>
                <a:lnTo>
                  <a:pt x="0" y="72036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2790944" y="11441463"/>
            <a:ext cx="1690620" cy="796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8"/>
              </a:lnSpc>
            </a:pPr>
            <a:r>
              <a:rPr lang="en-US" sz="1534" b="1">
                <a:solidFill>
                  <a:srgbClr val="1B1B1B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Alterações ou reparos realizados por terceiros</a:t>
            </a:r>
          </a:p>
        </p:txBody>
      </p:sp>
      <p:sp>
        <p:nvSpPr>
          <p:cNvPr id="38" name="Freeform 38"/>
          <p:cNvSpPr/>
          <p:nvPr/>
        </p:nvSpPr>
        <p:spPr>
          <a:xfrm>
            <a:off x="5361806" y="10628705"/>
            <a:ext cx="787595" cy="720361"/>
          </a:xfrm>
          <a:custGeom>
            <a:avLst/>
            <a:gdLst/>
            <a:ahLst/>
            <a:cxnLst/>
            <a:rect l="l" t="t" r="r" b="b"/>
            <a:pathLst>
              <a:path w="787595" h="720361">
                <a:moveTo>
                  <a:pt x="0" y="0"/>
                </a:moveTo>
                <a:lnTo>
                  <a:pt x="787595" y="0"/>
                </a:lnTo>
                <a:lnTo>
                  <a:pt x="787595" y="720361"/>
                </a:lnTo>
                <a:lnTo>
                  <a:pt x="0" y="72036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4997861" y="11429109"/>
            <a:ext cx="1528644" cy="56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8"/>
              </a:lnSpc>
            </a:pPr>
            <a:r>
              <a:rPr lang="en-US" sz="1641" b="1">
                <a:solidFill>
                  <a:srgbClr val="1B1B1B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Desgaste natural do uso</a:t>
            </a:r>
          </a:p>
        </p:txBody>
      </p:sp>
      <p:sp>
        <p:nvSpPr>
          <p:cNvPr id="40" name="Freeform 40"/>
          <p:cNvSpPr/>
          <p:nvPr/>
        </p:nvSpPr>
        <p:spPr>
          <a:xfrm>
            <a:off x="7311583" y="10628705"/>
            <a:ext cx="1373488" cy="720361"/>
          </a:xfrm>
          <a:custGeom>
            <a:avLst/>
            <a:gdLst/>
            <a:ahLst/>
            <a:cxnLst/>
            <a:rect l="l" t="t" r="r" b="b"/>
            <a:pathLst>
              <a:path w="1373488" h="720361">
                <a:moveTo>
                  <a:pt x="0" y="0"/>
                </a:moveTo>
                <a:lnTo>
                  <a:pt x="1373488" y="0"/>
                </a:lnTo>
                <a:lnTo>
                  <a:pt x="1373488" y="720361"/>
                </a:lnTo>
                <a:lnTo>
                  <a:pt x="0" y="72036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7022555" y="11426373"/>
            <a:ext cx="1842472" cy="988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4"/>
              </a:lnSpc>
            </a:pPr>
            <a:r>
              <a:rPr lang="en-US" sz="1534" b="1">
                <a:solidFill>
                  <a:srgbClr val="1B1B1B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Produtos fornecidos por terceiros (vidros, espelhos, metalon, estofados, etc.)</a:t>
            </a:r>
          </a:p>
        </p:txBody>
      </p:sp>
      <p:sp>
        <p:nvSpPr>
          <p:cNvPr id="42" name="Freeform 42"/>
          <p:cNvSpPr/>
          <p:nvPr/>
        </p:nvSpPr>
        <p:spPr>
          <a:xfrm>
            <a:off x="492167" y="12597692"/>
            <a:ext cx="8769194" cy="1258230"/>
          </a:xfrm>
          <a:custGeom>
            <a:avLst/>
            <a:gdLst/>
            <a:ahLst/>
            <a:cxnLst/>
            <a:rect l="l" t="t" r="r" b="b"/>
            <a:pathLst>
              <a:path w="8769194" h="1258230">
                <a:moveTo>
                  <a:pt x="0" y="0"/>
                </a:moveTo>
                <a:lnTo>
                  <a:pt x="8769193" y="0"/>
                </a:lnTo>
                <a:lnTo>
                  <a:pt x="8769193" y="1258230"/>
                </a:lnTo>
                <a:lnTo>
                  <a:pt x="0" y="125823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885964" y="12770578"/>
            <a:ext cx="787595" cy="912457"/>
          </a:xfrm>
          <a:custGeom>
            <a:avLst/>
            <a:gdLst/>
            <a:ahLst/>
            <a:cxnLst/>
            <a:rect l="l" t="t" r="r" b="b"/>
            <a:pathLst>
              <a:path w="787595" h="912457">
                <a:moveTo>
                  <a:pt x="0" y="0"/>
                </a:moveTo>
                <a:lnTo>
                  <a:pt x="787594" y="0"/>
                </a:lnTo>
                <a:lnTo>
                  <a:pt x="787594" y="912457"/>
                </a:lnTo>
                <a:lnTo>
                  <a:pt x="0" y="91245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1768473" y="12932858"/>
            <a:ext cx="5659021" cy="689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8"/>
              </a:lnSpc>
            </a:pPr>
            <a:r>
              <a:rPr lang="en-US" sz="1963" b="1">
                <a:solidFill>
                  <a:srgbClr val="E46B18"/>
                </a:solidFill>
                <a:latin typeface="Nunito Bold"/>
                <a:ea typeface="Nunito Bold"/>
                <a:cs typeface="Nunito Bold"/>
                <a:sym typeface="Nunito Bold"/>
              </a:rPr>
              <a:t>Dica:</a:t>
            </a:r>
            <a:r>
              <a:rPr lang="en-US" sz="1963">
                <a:solidFill>
                  <a:srgbClr val="F4F4F4"/>
                </a:solidFill>
                <a:latin typeface="Nunito"/>
                <a:ea typeface="Nunito"/>
                <a:cs typeface="Nunito"/>
                <a:sym typeface="Nunito"/>
              </a:rPr>
              <a:t> sempre teste o produto de limpeza em uma pequena área antes de aplicar por completo.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69954" y="1881158"/>
            <a:ext cx="2804202" cy="785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1"/>
              </a:lnSpc>
            </a:pPr>
            <a:r>
              <a:rPr lang="en-US" sz="5931">
                <a:solidFill>
                  <a:srgbClr val="1B1B1B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Mobieer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447741" y="5143684"/>
            <a:ext cx="1062965" cy="341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034" b="1">
                <a:solidFill>
                  <a:srgbClr val="1B1B1B"/>
                </a:solidFill>
                <a:latin typeface="Nunito Bold"/>
                <a:ea typeface="Nunito Bold"/>
                <a:cs typeface="Nunito Bold"/>
                <a:sym typeface="Nunito Bold"/>
              </a:rPr>
              <a:t>5 ANOS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447741" y="6261453"/>
            <a:ext cx="1062965" cy="341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034" b="1">
                <a:solidFill>
                  <a:srgbClr val="1B1B1B"/>
                </a:solidFill>
                <a:latin typeface="Nunito Bold"/>
                <a:ea typeface="Nunito Bold"/>
                <a:cs typeface="Nunito Bold"/>
                <a:sym typeface="Nunito Bold"/>
              </a:rPr>
              <a:t>2 ANOS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538852" y="7092615"/>
            <a:ext cx="870619" cy="341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034" b="1">
                <a:solidFill>
                  <a:srgbClr val="1B1B1B"/>
                </a:solidFill>
                <a:latin typeface="Nunito Bold"/>
                <a:ea typeface="Nunito Bold"/>
                <a:cs typeface="Nunito Bold"/>
                <a:sym typeface="Nunito Bold"/>
              </a:rPr>
              <a:t>1 ANO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56126" y="8078761"/>
            <a:ext cx="3016795" cy="299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20" b="1">
                <a:solidFill>
                  <a:srgbClr val="1B1B1B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A GARANTIA NÃO COBRE: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039350" cy="14211300"/>
          </a:xfrm>
          <a:custGeom>
            <a:avLst/>
            <a:gdLst/>
            <a:ahLst/>
            <a:cxnLst/>
            <a:rect l="l" t="t" r="r" b="b"/>
            <a:pathLst>
              <a:path w="10039350" h="14211300">
                <a:moveTo>
                  <a:pt x="0" y="0"/>
                </a:moveTo>
                <a:lnTo>
                  <a:pt x="10039350" y="0"/>
                </a:lnTo>
                <a:lnTo>
                  <a:pt x="10039350" y="14211300"/>
                </a:lnTo>
                <a:lnTo>
                  <a:pt x="0" y="14211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068" b="-3068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24166"/>
            <a:ext cx="10044025" cy="14659631"/>
          </a:xfrm>
          <a:custGeom>
            <a:avLst/>
            <a:gdLst/>
            <a:ahLst/>
            <a:cxnLst/>
            <a:rect l="l" t="t" r="r" b="b"/>
            <a:pathLst>
              <a:path w="10044025" h="14659631">
                <a:moveTo>
                  <a:pt x="0" y="0"/>
                </a:moveTo>
                <a:lnTo>
                  <a:pt x="10044025" y="0"/>
                </a:lnTo>
                <a:lnTo>
                  <a:pt x="10044025" y="14659632"/>
                </a:lnTo>
                <a:lnTo>
                  <a:pt x="0" y="146596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-224166"/>
            <a:ext cx="10044025" cy="3851177"/>
          </a:xfrm>
          <a:custGeom>
            <a:avLst/>
            <a:gdLst/>
            <a:ahLst/>
            <a:cxnLst/>
            <a:rect l="l" t="t" r="r" b="b"/>
            <a:pathLst>
              <a:path w="10044025" h="3851177">
                <a:moveTo>
                  <a:pt x="0" y="0"/>
                </a:moveTo>
                <a:lnTo>
                  <a:pt x="10044025" y="0"/>
                </a:lnTo>
                <a:lnTo>
                  <a:pt x="10044025" y="3851177"/>
                </a:lnTo>
                <a:lnTo>
                  <a:pt x="0" y="38511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83850" y="-224166"/>
            <a:ext cx="977309" cy="1286951"/>
          </a:xfrm>
          <a:custGeom>
            <a:avLst/>
            <a:gdLst/>
            <a:ahLst/>
            <a:cxnLst/>
            <a:rect l="l" t="t" r="r" b="b"/>
            <a:pathLst>
              <a:path w="977309" h="1286951">
                <a:moveTo>
                  <a:pt x="0" y="0"/>
                </a:moveTo>
                <a:lnTo>
                  <a:pt x="977309" y="0"/>
                </a:lnTo>
                <a:lnTo>
                  <a:pt x="977309" y="1286952"/>
                </a:lnTo>
                <a:lnTo>
                  <a:pt x="0" y="12869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91717" y="169236"/>
            <a:ext cx="482113" cy="504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0"/>
              </a:lnSpc>
            </a:pPr>
            <a:r>
              <a:rPr lang="en-US" sz="2950" b="1">
                <a:solidFill>
                  <a:srgbClr val="FFFFFF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81314" y="3937268"/>
            <a:ext cx="5102364" cy="83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3"/>
              </a:lnSpc>
            </a:pPr>
            <a:r>
              <a:rPr lang="en-US" sz="4895" spc="489">
                <a:solidFill>
                  <a:srgbClr val="C84A0B"/>
                </a:solidFill>
                <a:latin typeface="Fraunces"/>
                <a:ea typeface="Fraunces"/>
                <a:cs typeface="Fraunces"/>
                <a:sym typeface="Fraunces"/>
              </a:rPr>
              <a:t>CERTIFICADO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43780" y="4705917"/>
            <a:ext cx="3977434" cy="647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0"/>
              </a:lnSpc>
            </a:pPr>
            <a:r>
              <a:rPr lang="en-US" sz="3778" spc="377">
                <a:solidFill>
                  <a:srgbClr val="222222"/>
                </a:solidFill>
                <a:latin typeface="Fraunces"/>
                <a:ea typeface="Fraunces"/>
                <a:cs typeface="Fraunces"/>
                <a:sym typeface="Fraunces"/>
              </a:rPr>
              <a:t>DE GARANTIA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2774" y="5715170"/>
            <a:ext cx="2149421" cy="260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4"/>
              </a:lnSpc>
            </a:pPr>
            <a:r>
              <a:rPr lang="en-US" sz="1545" b="1">
                <a:solidFill>
                  <a:srgbClr val="C84A0B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DADOS DO CLIENTE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2774" y="6251221"/>
            <a:ext cx="713126" cy="24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2"/>
              </a:lnSpc>
            </a:pPr>
            <a:r>
              <a:rPr lang="en-US" sz="1437" b="1">
                <a:solidFill>
                  <a:srgbClr val="22222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Cliente:</a:t>
            </a:r>
          </a:p>
        </p:txBody>
      </p:sp>
      <p:sp>
        <p:nvSpPr>
          <p:cNvPr id="10" name="Freeform 10"/>
          <p:cNvSpPr/>
          <p:nvPr/>
        </p:nvSpPr>
        <p:spPr>
          <a:xfrm>
            <a:off x="1925589" y="6365411"/>
            <a:ext cx="7354006" cy="193526"/>
          </a:xfrm>
          <a:custGeom>
            <a:avLst/>
            <a:gdLst/>
            <a:ahLst/>
            <a:cxnLst/>
            <a:rect l="l" t="t" r="r" b="b"/>
            <a:pathLst>
              <a:path w="7354006" h="193526">
                <a:moveTo>
                  <a:pt x="0" y="0"/>
                </a:moveTo>
                <a:lnTo>
                  <a:pt x="7354006" y="0"/>
                </a:lnTo>
                <a:lnTo>
                  <a:pt x="7354006" y="193527"/>
                </a:lnTo>
                <a:lnTo>
                  <a:pt x="0" y="1935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32774" y="6731066"/>
            <a:ext cx="1155063" cy="251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3"/>
              </a:lnSpc>
            </a:pPr>
            <a:r>
              <a:rPr lang="en-US" sz="1509" b="1">
                <a:solidFill>
                  <a:srgbClr val="22222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CPF / CNPJ:</a:t>
            </a:r>
          </a:p>
        </p:txBody>
      </p:sp>
      <p:sp>
        <p:nvSpPr>
          <p:cNvPr id="12" name="Freeform 12"/>
          <p:cNvSpPr/>
          <p:nvPr/>
        </p:nvSpPr>
        <p:spPr>
          <a:xfrm>
            <a:off x="1925589" y="6733112"/>
            <a:ext cx="7354006" cy="193526"/>
          </a:xfrm>
          <a:custGeom>
            <a:avLst/>
            <a:gdLst/>
            <a:ahLst/>
            <a:cxnLst/>
            <a:rect l="l" t="t" r="r" b="b"/>
            <a:pathLst>
              <a:path w="7354006" h="193526">
                <a:moveTo>
                  <a:pt x="0" y="0"/>
                </a:moveTo>
                <a:lnTo>
                  <a:pt x="7354006" y="0"/>
                </a:lnTo>
                <a:lnTo>
                  <a:pt x="7354006" y="193526"/>
                </a:lnTo>
                <a:lnTo>
                  <a:pt x="0" y="1935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32774" y="7233416"/>
            <a:ext cx="853742" cy="24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2"/>
              </a:lnSpc>
            </a:pPr>
            <a:r>
              <a:rPr lang="en-US" sz="1437" b="1">
                <a:solidFill>
                  <a:srgbClr val="22222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Telefone:</a:t>
            </a:r>
          </a:p>
        </p:txBody>
      </p:sp>
      <p:sp>
        <p:nvSpPr>
          <p:cNvPr id="14" name="Freeform 14"/>
          <p:cNvSpPr/>
          <p:nvPr/>
        </p:nvSpPr>
        <p:spPr>
          <a:xfrm>
            <a:off x="1732062" y="7100812"/>
            <a:ext cx="4257583" cy="377377"/>
          </a:xfrm>
          <a:custGeom>
            <a:avLst/>
            <a:gdLst/>
            <a:ahLst/>
            <a:cxnLst/>
            <a:rect l="l" t="t" r="r" b="b"/>
            <a:pathLst>
              <a:path w="4257583" h="377377">
                <a:moveTo>
                  <a:pt x="0" y="0"/>
                </a:moveTo>
                <a:lnTo>
                  <a:pt x="4257583" y="0"/>
                </a:lnTo>
                <a:lnTo>
                  <a:pt x="4257583" y="377376"/>
                </a:lnTo>
                <a:lnTo>
                  <a:pt x="0" y="3773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32774" y="7708880"/>
            <a:ext cx="642818" cy="260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4"/>
              </a:lnSpc>
            </a:pPr>
            <a:r>
              <a:rPr lang="en-US" sz="1545" b="1">
                <a:solidFill>
                  <a:srgbClr val="22222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E-mail:</a:t>
            </a:r>
          </a:p>
        </p:txBody>
      </p:sp>
      <p:sp>
        <p:nvSpPr>
          <p:cNvPr id="16" name="Freeform 16"/>
          <p:cNvSpPr/>
          <p:nvPr/>
        </p:nvSpPr>
        <p:spPr>
          <a:xfrm>
            <a:off x="1732062" y="7836212"/>
            <a:ext cx="7547533" cy="193526"/>
          </a:xfrm>
          <a:custGeom>
            <a:avLst/>
            <a:gdLst/>
            <a:ahLst/>
            <a:cxnLst/>
            <a:rect l="l" t="t" r="r" b="b"/>
            <a:pathLst>
              <a:path w="7547533" h="193526">
                <a:moveTo>
                  <a:pt x="0" y="0"/>
                </a:moveTo>
                <a:lnTo>
                  <a:pt x="7547533" y="0"/>
                </a:lnTo>
                <a:lnTo>
                  <a:pt x="7547533" y="193527"/>
                </a:lnTo>
                <a:lnTo>
                  <a:pt x="0" y="1935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32774" y="8200952"/>
            <a:ext cx="924050" cy="24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2"/>
              </a:lnSpc>
            </a:pPr>
            <a:r>
              <a:rPr lang="en-US" sz="1437" b="1">
                <a:solidFill>
                  <a:srgbClr val="22222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Endereço:</a:t>
            </a:r>
          </a:p>
        </p:txBody>
      </p:sp>
      <p:sp>
        <p:nvSpPr>
          <p:cNvPr id="18" name="Freeform 18"/>
          <p:cNvSpPr/>
          <p:nvPr/>
        </p:nvSpPr>
        <p:spPr>
          <a:xfrm>
            <a:off x="1732062" y="8203913"/>
            <a:ext cx="7547533" cy="367700"/>
          </a:xfrm>
          <a:custGeom>
            <a:avLst/>
            <a:gdLst/>
            <a:ahLst/>
            <a:cxnLst/>
            <a:rect l="l" t="t" r="r" b="b"/>
            <a:pathLst>
              <a:path w="7547533" h="367700">
                <a:moveTo>
                  <a:pt x="0" y="0"/>
                </a:moveTo>
                <a:lnTo>
                  <a:pt x="7547533" y="0"/>
                </a:lnTo>
                <a:lnTo>
                  <a:pt x="7547533" y="367700"/>
                </a:lnTo>
                <a:lnTo>
                  <a:pt x="0" y="36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732062" y="8745787"/>
            <a:ext cx="3677003" cy="193526"/>
          </a:xfrm>
          <a:custGeom>
            <a:avLst/>
            <a:gdLst/>
            <a:ahLst/>
            <a:cxnLst/>
            <a:rect l="l" t="t" r="r" b="b"/>
            <a:pathLst>
              <a:path w="3677003" h="193526">
                <a:moveTo>
                  <a:pt x="0" y="0"/>
                </a:moveTo>
                <a:lnTo>
                  <a:pt x="3677003" y="0"/>
                </a:lnTo>
                <a:lnTo>
                  <a:pt x="3677003" y="193526"/>
                </a:lnTo>
                <a:lnTo>
                  <a:pt x="0" y="19352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979968" y="8745787"/>
            <a:ext cx="3299627" cy="193526"/>
          </a:xfrm>
          <a:custGeom>
            <a:avLst/>
            <a:gdLst/>
            <a:ahLst/>
            <a:cxnLst/>
            <a:rect l="l" t="t" r="r" b="b"/>
            <a:pathLst>
              <a:path w="3299627" h="193526">
                <a:moveTo>
                  <a:pt x="0" y="0"/>
                </a:moveTo>
                <a:lnTo>
                  <a:pt x="3299627" y="0"/>
                </a:lnTo>
                <a:lnTo>
                  <a:pt x="3299627" y="193526"/>
                </a:lnTo>
                <a:lnTo>
                  <a:pt x="0" y="19352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632774" y="9380078"/>
            <a:ext cx="2279994" cy="260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4"/>
              </a:lnSpc>
            </a:pPr>
            <a:r>
              <a:rPr lang="en-US" sz="1545" b="1">
                <a:solidFill>
                  <a:srgbClr val="C84A0B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DADOS DO PROJETO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2774" y="9872150"/>
            <a:ext cx="1436296" cy="24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2"/>
              </a:lnSpc>
            </a:pPr>
            <a:r>
              <a:rPr lang="en-US" sz="1437" b="1">
                <a:solidFill>
                  <a:srgbClr val="22222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Nº do Contrato:</a:t>
            </a:r>
          </a:p>
        </p:txBody>
      </p:sp>
      <p:sp>
        <p:nvSpPr>
          <p:cNvPr id="23" name="Freeform 23"/>
          <p:cNvSpPr/>
          <p:nvPr/>
        </p:nvSpPr>
        <p:spPr>
          <a:xfrm>
            <a:off x="2119115" y="10032738"/>
            <a:ext cx="7160480" cy="193526"/>
          </a:xfrm>
          <a:custGeom>
            <a:avLst/>
            <a:gdLst/>
            <a:ahLst/>
            <a:cxnLst/>
            <a:rect l="l" t="t" r="r" b="b"/>
            <a:pathLst>
              <a:path w="7160480" h="193526">
                <a:moveTo>
                  <a:pt x="0" y="0"/>
                </a:moveTo>
                <a:lnTo>
                  <a:pt x="7160480" y="0"/>
                </a:lnTo>
                <a:lnTo>
                  <a:pt x="7160480" y="193527"/>
                </a:lnTo>
                <a:lnTo>
                  <a:pt x="0" y="1935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2119115" y="10400438"/>
            <a:ext cx="7160480" cy="193526"/>
          </a:xfrm>
          <a:custGeom>
            <a:avLst/>
            <a:gdLst/>
            <a:ahLst/>
            <a:cxnLst/>
            <a:rect l="l" t="t" r="r" b="b"/>
            <a:pathLst>
              <a:path w="7160480" h="193526">
                <a:moveTo>
                  <a:pt x="0" y="0"/>
                </a:moveTo>
                <a:lnTo>
                  <a:pt x="7160480" y="0"/>
                </a:lnTo>
                <a:lnTo>
                  <a:pt x="7160480" y="193527"/>
                </a:lnTo>
                <a:lnTo>
                  <a:pt x="0" y="1935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632774" y="10825026"/>
            <a:ext cx="903962" cy="24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2"/>
              </a:lnSpc>
            </a:pPr>
            <a:r>
              <a:rPr lang="en-US" sz="1437" b="1">
                <a:solidFill>
                  <a:srgbClr val="22222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Projetista:</a:t>
            </a:r>
          </a:p>
        </p:txBody>
      </p:sp>
      <p:sp>
        <p:nvSpPr>
          <p:cNvPr id="26" name="Freeform 26"/>
          <p:cNvSpPr/>
          <p:nvPr/>
        </p:nvSpPr>
        <p:spPr>
          <a:xfrm>
            <a:off x="2119115" y="10951989"/>
            <a:ext cx="7160480" cy="193526"/>
          </a:xfrm>
          <a:custGeom>
            <a:avLst/>
            <a:gdLst/>
            <a:ahLst/>
            <a:cxnLst/>
            <a:rect l="l" t="t" r="r" b="b"/>
            <a:pathLst>
              <a:path w="7160480" h="193526">
                <a:moveTo>
                  <a:pt x="0" y="0"/>
                </a:moveTo>
                <a:lnTo>
                  <a:pt x="7160480" y="0"/>
                </a:lnTo>
                <a:lnTo>
                  <a:pt x="7160480" y="193526"/>
                </a:lnTo>
                <a:lnTo>
                  <a:pt x="0" y="193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2119115" y="11319689"/>
            <a:ext cx="7160480" cy="183850"/>
          </a:xfrm>
          <a:custGeom>
            <a:avLst/>
            <a:gdLst/>
            <a:ahLst/>
            <a:cxnLst/>
            <a:rect l="l" t="t" r="r" b="b"/>
            <a:pathLst>
              <a:path w="7160480" h="183850">
                <a:moveTo>
                  <a:pt x="0" y="0"/>
                </a:moveTo>
                <a:lnTo>
                  <a:pt x="7160480" y="0"/>
                </a:lnTo>
                <a:lnTo>
                  <a:pt x="7160480" y="183850"/>
                </a:lnTo>
                <a:lnTo>
                  <a:pt x="0" y="1838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632774" y="11777902"/>
            <a:ext cx="1496560" cy="24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2"/>
              </a:lnSpc>
            </a:pPr>
            <a:r>
              <a:rPr lang="en-US" sz="1437" b="1">
                <a:solidFill>
                  <a:srgbClr val="22222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Data da compra:</a:t>
            </a:r>
          </a:p>
        </p:txBody>
      </p:sp>
      <p:sp>
        <p:nvSpPr>
          <p:cNvPr id="29" name="Freeform 29"/>
          <p:cNvSpPr/>
          <p:nvPr/>
        </p:nvSpPr>
        <p:spPr>
          <a:xfrm>
            <a:off x="2119115" y="11677713"/>
            <a:ext cx="2331994" cy="377377"/>
          </a:xfrm>
          <a:custGeom>
            <a:avLst/>
            <a:gdLst/>
            <a:ahLst/>
            <a:cxnLst/>
            <a:rect l="l" t="t" r="r" b="b"/>
            <a:pathLst>
              <a:path w="2331994" h="377377">
                <a:moveTo>
                  <a:pt x="0" y="0"/>
                </a:moveTo>
                <a:lnTo>
                  <a:pt x="2331994" y="0"/>
                </a:lnTo>
                <a:lnTo>
                  <a:pt x="2331994" y="377377"/>
                </a:lnTo>
                <a:lnTo>
                  <a:pt x="0" y="37737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5202805" y="11773521"/>
            <a:ext cx="1526692" cy="25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sz="1473" b="1">
                <a:solidFill>
                  <a:srgbClr val="22222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Data da entrega:</a:t>
            </a:r>
          </a:p>
        </p:txBody>
      </p:sp>
      <p:sp>
        <p:nvSpPr>
          <p:cNvPr id="31" name="Freeform 31"/>
          <p:cNvSpPr/>
          <p:nvPr/>
        </p:nvSpPr>
        <p:spPr>
          <a:xfrm>
            <a:off x="6754074" y="11677713"/>
            <a:ext cx="2138468" cy="377377"/>
          </a:xfrm>
          <a:custGeom>
            <a:avLst/>
            <a:gdLst/>
            <a:ahLst/>
            <a:cxnLst/>
            <a:rect l="l" t="t" r="r" b="b"/>
            <a:pathLst>
              <a:path w="2138468" h="377377">
                <a:moveTo>
                  <a:pt x="0" y="0"/>
                </a:moveTo>
                <a:lnTo>
                  <a:pt x="2138468" y="0"/>
                </a:lnTo>
                <a:lnTo>
                  <a:pt x="2138468" y="377377"/>
                </a:lnTo>
                <a:lnTo>
                  <a:pt x="0" y="37737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632774" y="12247010"/>
            <a:ext cx="1908365" cy="24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2"/>
              </a:lnSpc>
            </a:pPr>
            <a:r>
              <a:rPr lang="en-US" sz="1437" b="1">
                <a:solidFill>
                  <a:srgbClr val="22222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Data da vistoria final:</a:t>
            </a:r>
          </a:p>
        </p:txBody>
      </p:sp>
      <p:sp>
        <p:nvSpPr>
          <p:cNvPr id="33" name="Freeform 33"/>
          <p:cNvSpPr/>
          <p:nvPr/>
        </p:nvSpPr>
        <p:spPr>
          <a:xfrm>
            <a:off x="2506168" y="12229264"/>
            <a:ext cx="2331994" cy="377377"/>
          </a:xfrm>
          <a:custGeom>
            <a:avLst/>
            <a:gdLst/>
            <a:ahLst/>
            <a:cxnLst/>
            <a:rect l="l" t="t" r="r" b="b"/>
            <a:pathLst>
              <a:path w="2331994" h="377377">
                <a:moveTo>
                  <a:pt x="0" y="0"/>
                </a:moveTo>
                <a:lnTo>
                  <a:pt x="2331994" y="0"/>
                </a:lnTo>
                <a:lnTo>
                  <a:pt x="2331994" y="377376"/>
                </a:lnTo>
                <a:lnTo>
                  <a:pt x="0" y="37737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632774" y="12781112"/>
            <a:ext cx="2581314" cy="260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4"/>
              </a:lnSpc>
            </a:pPr>
            <a:r>
              <a:rPr lang="en-US" sz="1545" b="1">
                <a:solidFill>
                  <a:srgbClr val="C84A0B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AMBIENTES ENTREGUES</a:t>
            </a:r>
          </a:p>
        </p:txBody>
      </p:sp>
      <p:sp>
        <p:nvSpPr>
          <p:cNvPr id="35" name="Freeform 35"/>
          <p:cNvSpPr/>
          <p:nvPr/>
        </p:nvSpPr>
        <p:spPr>
          <a:xfrm>
            <a:off x="570903" y="13148514"/>
            <a:ext cx="396729" cy="377377"/>
          </a:xfrm>
          <a:custGeom>
            <a:avLst/>
            <a:gdLst/>
            <a:ahLst/>
            <a:cxnLst/>
            <a:rect l="l" t="t" r="r" b="b"/>
            <a:pathLst>
              <a:path w="396729" h="377377">
                <a:moveTo>
                  <a:pt x="0" y="0"/>
                </a:moveTo>
                <a:lnTo>
                  <a:pt x="396729" y="0"/>
                </a:lnTo>
                <a:lnTo>
                  <a:pt x="396729" y="377377"/>
                </a:lnTo>
                <a:lnTo>
                  <a:pt x="0" y="37737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2893221" y="13148514"/>
            <a:ext cx="396729" cy="377377"/>
          </a:xfrm>
          <a:custGeom>
            <a:avLst/>
            <a:gdLst/>
            <a:ahLst/>
            <a:cxnLst/>
            <a:rect l="l" t="t" r="r" b="b"/>
            <a:pathLst>
              <a:path w="396729" h="377377">
                <a:moveTo>
                  <a:pt x="0" y="0"/>
                </a:moveTo>
                <a:lnTo>
                  <a:pt x="396729" y="0"/>
                </a:lnTo>
                <a:lnTo>
                  <a:pt x="396729" y="377377"/>
                </a:lnTo>
                <a:lnTo>
                  <a:pt x="0" y="37737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570903" y="13516215"/>
            <a:ext cx="396729" cy="377377"/>
          </a:xfrm>
          <a:custGeom>
            <a:avLst/>
            <a:gdLst/>
            <a:ahLst/>
            <a:cxnLst/>
            <a:rect l="l" t="t" r="r" b="b"/>
            <a:pathLst>
              <a:path w="396729" h="377377">
                <a:moveTo>
                  <a:pt x="0" y="0"/>
                </a:moveTo>
                <a:lnTo>
                  <a:pt x="396729" y="0"/>
                </a:lnTo>
                <a:lnTo>
                  <a:pt x="396729" y="377376"/>
                </a:lnTo>
                <a:lnTo>
                  <a:pt x="0" y="37737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2893221" y="13516215"/>
            <a:ext cx="396729" cy="377377"/>
          </a:xfrm>
          <a:custGeom>
            <a:avLst/>
            <a:gdLst/>
            <a:ahLst/>
            <a:cxnLst/>
            <a:rect l="l" t="t" r="r" b="b"/>
            <a:pathLst>
              <a:path w="396729" h="377377">
                <a:moveTo>
                  <a:pt x="0" y="0"/>
                </a:moveTo>
                <a:lnTo>
                  <a:pt x="396729" y="0"/>
                </a:lnTo>
                <a:lnTo>
                  <a:pt x="396729" y="377376"/>
                </a:lnTo>
                <a:lnTo>
                  <a:pt x="0" y="37737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570903" y="13883915"/>
            <a:ext cx="396729" cy="377377"/>
          </a:xfrm>
          <a:custGeom>
            <a:avLst/>
            <a:gdLst/>
            <a:ahLst/>
            <a:cxnLst/>
            <a:rect l="l" t="t" r="r" b="b"/>
            <a:pathLst>
              <a:path w="396729" h="377377">
                <a:moveTo>
                  <a:pt x="0" y="0"/>
                </a:moveTo>
                <a:lnTo>
                  <a:pt x="396729" y="0"/>
                </a:lnTo>
                <a:lnTo>
                  <a:pt x="396729" y="377377"/>
                </a:lnTo>
                <a:lnTo>
                  <a:pt x="0" y="37737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2893221" y="13883915"/>
            <a:ext cx="396729" cy="377377"/>
          </a:xfrm>
          <a:custGeom>
            <a:avLst/>
            <a:gdLst/>
            <a:ahLst/>
            <a:cxnLst/>
            <a:rect l="l" t="t" r="r" b="b"/>
            <a:pathLst>
              <a:path w="396729" h="377377">
                <a:moveTo>
                  <a:pt x="0" y="0"/>
                </a:moveTo>
                <a:lnTo>
                  <a:pt x="396729" y="0"/>
                </a:lnTo>
                <a:lnTo>
                  <a:pt x="396729" y="377377"/>
                </a:lnTo>
                <a:lnTo>
                  <a:pt x="0" y="37737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632774" y="8699380"/>
            <a:ext cx="1155063" cy="24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2"/>
              </a:lnSpc>
            </a:pPr>
            <a:r>
              <a:rPr lang="en-US" sz="1437" b="1">
                <a:solidFill>
                  <a:srgbClr val="22222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Cidade / UF: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584478" y="8694999"/>
            <a:ext cx="441937" cy="25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sz="1473" b="1">
                <a:solidFill>
                  <a:srgbClr val="22222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CEP: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2774" y="10355918"/>
            <a:ext cx="1185195" cy="24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2"/>
              </a:lnSpc>
            </a:pPr>
            <a:r>
              <a:rPr lang="en-US" sz="1437" b="1">
                <a:solidFill>
                  <a:srgbClr val="22222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Consultor(a):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2774" y="11289754"/>
            <a:ext cx="1295679" cy="25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sz="1473" b="1">
                <a:solidFill>
                  <a:srgbClr val="22222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Montador(es):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892679" y="11825025"/>
            <a:ext cx="1516648" cy="158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7"/>
              </a:lnSpc>
            </a:pPr>
            <a:r>
              <a:rPr lang="en-US" sz="969" b="1">
                <a:solidFill>
                  <a:srgbClr val="22222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/ _______ / _______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131257" y="11798434"/>
            <a:ext cx="1747660" cy="20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149" b="1">
                <a:solidFill>
                  <a:srgbClr val="22222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/ _______ / _______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94358" y="13221639"/>
            <a:ext cx="642818" cy="209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0"/>
              </a:lnSpc>
            </a:pPr>
            <a:r>
              <a:rPr lang="en-US" sz="1257" b="1">
                <a:solidFill>
                  <a:srgbClr val="22222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Cozinha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94358" y="13588130"/>
            <a:ext cx="512245" cy="209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0"/>
              </a:lnSpc>
            </a:pPr>
            <a:r>
              <a:rPr lang="en-US" sz="1257" b="1">
                <a:solidFill>
                  <a:srgbClr val="22222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Closet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94358" y="13945553"/>
            <a:ext cx="1155063" cy="218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1"/>
              </a:lnSpc>
            </a:pPr>
            <a:r>
              <a:rPr lang="en-US" sz="1293" b="1">
                <a:solidFill>
                  <a:srgbClr val="22222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Área Gourmet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394880" y="13203810"/>
            <a:ext cx="1084755" cy="235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n-US" sz="1365" b="1">
                <a:solidFill>
                  <a:srgbClr val="22222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Sala de Estar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394880" y="13584206"/>
            <a:ext cx="1044579" cy="217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1"/>
              </a:lnSpc>
            </a:pPr>
            <a:r>
              <a:rPr lang="en-US" sz="1329" b="1">
                <a:solidFill>
                  <a:srgbClr val="22222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Home Office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394880" y="13950697"/>
            <a:ext cx="783434" cy="217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1"/>
              </a:lnSpc>
            </a:pPr>
            <a:r>
              <a:rPr lang="en-US" sz="1329" b="1">
                <a:solidFill>
                  <a:srgbClr val="22222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Escritório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674874" y="13203810"/>
            <a:ext cx="1185195" cy="235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n-US" sz="1365" b="1">
                <a:solidFill>
                  <a:srgbClr val="22222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Sala de Jantar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674874" y="13584206"/>
            <a:ext cx="743258" cy="217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1"/>
              </a:lnSpc>
            </a:pPr>
            <a:r>
              <a:rPr lang="en-US" sz="1329" b="1">
                <a:solidFill>
                  <a:srgbClr val="22222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Banheiro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674874" y="13936791"/>
            <a:ext cx="642818" cy="235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n-US" sz="1365" b="1">
                <a:solidFill>
                  <a:srgbClr val="22222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Outros: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095484" y="13217716"/>
            <a:ext cx="592597" cy="217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1"/>
              </a:lnSpc>
            </a:pPr>
            <a:r>
              <a:rPr lang="en-US" sz="1329" b="1">
                <a:solidFill>
                  <a:srgbClr val="22222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Quarto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095484" y="13584206"/>
            <a:ext cx="883874" cy="217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1"/>
              </a:lnSpc>
            </a:pPr>
            <a:r>
              <a:rPr lang="en-US" sz="1329" b="1">
                <a:solidFill>
                  <a:srgbClr val="222222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Lavanderia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01066"/>
            <a:ext cx="10033000" cy="17345721"/>
          </a:xfrm>
          <a:custGeom>
            <a:avLst/>
            <a:gdLst/>
            <a:ahLst/>
            <a:cxnLst/>
            <a:rect l="l" t="t" r="r" b="b"/>
            <a:pathLst>
              <a:path w="9811173" h="17345721">
                <a:moveTo>
                  <a:pt x="0" y="0"/>
                </a:moveTo>
                <a:lnTo>
                  <a:pt x="9811174" y="0"/>
                </a:lnTo>
                <a:lnTo>
                  <a:pt x="9811174" y="17345720"/>
                </a:lnTo>
                <a:lnTo>
                  <a:pt x="0" y="17345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4088" y="-401066"/>
            <a:ext cx="9811173" cy="2688587"/>
          </a:xfrm>
          <a:custGeom>
            <a:avLst/>
            <a:gdLst/>
            <a:ahLst/>
            <a:cxnLst/>
            <a:rect l="l" t="t" r="r" b="b"/>
            <a:pathLst>
              <a:path w="9811173" h="2688587">
                <a:moveTo>
                  <a:pt x="0" y="0"/>
                </a:moveTo>
                <a:lnTo>
                  <a:pt x="9811174" y="0"/>
                </a:lnTo>
                <a:lnTo>
                  <a:pt x="9811174" y="2688586"/>
                </a:lnTo>
                <a:lnTo>
                  <a:pt x="0" y="2688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15208" y="10895"/>
            <a:ext cx="1029902" cy="1246724"/>
          </a:xfrm>
          <a:custGeom>
            <a:avLst/>
            <a:gdLst/>
            <a:ahLst/>
            <a:cxnLst/>
            <a:rect l="l" t="t" r="r" b="b"/>
            <a:pathLst>
              <a:path w="1029902" h="1246724">
                <a:moveTo>
                  <a:pt x="0" y="0"/>
                </a:moveTo>
                <a:lnTo>
                  <a:pt x="1029902" y="0"/>
                </a:lnTo>
                <a:lnTo>
                  <a:pt x="1029902" y="1246723"/>
                </a:lnTo>
                <a:lnTo>
                  <a:pt x="0" y="1246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017456" y="10292"/>
            <a:ext cx="3787113" cy="455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2659" b="1">
                <a:solidFill>
                  <a:srgbClr val="FFFFFF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ASSISTÊNCIA TÉCNICA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17456" y="603482"/>
            <a:ext cx="6396885" cy="11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095">
                <a:solidFill>
                  <a:srgbClr val="FFFFFF"/>
                </a:solidFill>
                <a:latin typeface="Nourd Light"/>
                <a:ea typeface="Nourd Light"/>
                <a:cs typeface="Nourd Light"/>
                <a:sym typeface="Nourd Light"/>
              </a:rPr>
              <a:t>Caso seja necessária assistência técnica, entre em contato com a Mobieer para agendamento prévio. Nossa equipe está pronta para atender você.</a:t>
            </a:r>
          </a:p>
        </p:txBody>
      </p:sp>
      <p:sp>
        <p:nvSpPr>
          <p:cNvPr id="7" name="Freeform 7"/>
          <p:cNvSpPr/>
          <p:nvPr/>
        </p:nvSpPr>
        <p:spPr>
          <a:xfrm>
            <a:off x="515208" y="2070699"/>
            <a:ext cx="834763" cy="1040743"/>
          </a:xfrm>
          <a:custGeom>
            <a:avLst/>
            <a:gdLst/>
            <a:ahLst/>
            <a:cxnLst/>
            <a:rect l="l" t="t" r="r" b="b"/>
            <a:pathLst>
              <a:path w="834763" h="1040743">
                <a:moveTo>
                  <a:pt x="0" y="0"/>
                </a:moveTo>
                <a:lnTo>
                  <a:pt x="834763" y="0"/>
                </a:lnTo>
                <a:lnTo>
                  <a:pt x="834763" y="1040743"/>
                </a:lnTo>
                <a:lnTo>
                  <a:pt x="0" y="10407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42003" y="2386656"/>
            <a:ext cx="441503" cy="437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sz="2659" b="1" dirty="0">
                <a:solidFill>
                  <a:srgbClr val="FFFFFF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09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9926" y="4094642"/>
            <a:ext cx="8221763" cy="986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812">
                <a:solidFill>
                  <a:srgbClr val="1E1E1E"/>
                </a:solidFill>
                <a:latin typeface="Nourd Light"/>
                <a:ea typeface="Nourd Light"/>
                <a:cs typeface="Nourd Light"/>
                <a:sym typeface="Nourd Light"/>
              </a:rPr>
              <a:t>Declaro que recebi os móveis planejados instalados conforme contratado, juntamente com este Manual de Uso e Conservação, estando ciente das orientações de utilização, manutenção e das condições de garantia aqui descritas.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9926" y="6168605"/>
            <a:ext cx="3247498" cy="334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3"/>
              </a:lnSpc>
            </a:pPr>
            <a:r>
              <a:rPr lang="en-US" sz="1974" b="1">
                <a:solidFill>
                  <a:srgbClr val="1E1E1E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ASSINATURA DO CLIENTE</a:t>
            </a:r>
          </a:p>
        </p:txBody>
      </p:sp>
      <p:sp>
        <p:nvSpPr>
          <p:cNvPr id="11" name="Freeform 11"/>
          <p:cNvSpPr/>
          <p:nvPr/>
        </p:nvSpPr>
        <p:spPr>
          <a:xfrm>
            <a:off x="721189" y="6819090"/>
            <a:ext cx="7979031" cy="216822"/>
          </a:xfrm>
          <a:custGeom>
            <a:avLst/>
            <a:gdLst/>
            <a:ahLst/>
            <a:cxnLst/>
            <a:rect l="l" t="t" r="r" b="b"/>
            <a:pathLst>
              <a:path w="7979031" h="216822">
                <a:moveTo>
                  <a:pt x="0" y="0"/>
                </a:moveTo>
                <a:lnTo>
                  <a:pt x="7979031" y="0"/>
                </a:lnTo>
                <a:lnTo>
                  <a:pt x="7979031" y="216821"/>
                </a:lnTo>
                <a:lnTo>
                  <a:pt x="0" y="2168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849926" y="7747065"/>
            <a:ext cx="3119953" cy="334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3"/>
              </a:lnSpc>
            </a:pPr>
            <a:r>
              <a:rPr lang="en-US" sz="1974" b="1">
                <a:solidFill>
                  <a:srgbClr val="1E1E1E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RESPONSÁVEL MOBIEER</a:t>
            </a:r>
          </a:p>
        </p:txBody>
      </p:sp>
      <p:sp>
        <p:nvSpPr>
          <p:cNvPr id="13" name="Freeform 13"/>
          <p:cNvSpPr/>
          <p:nvPr/>
        </p:nvSpPr>
        <p:spPr>
          <a:xfrm>
            <a:off x="721189" y="8477774"/>
            <a:ext cx="7979031" cy="216822"/>
          </a:xfrm>
          <a:custGeom>
            <a:avLst/>
            <a:gdLst/>
            <a:ahLst/>
            <a:cxnLst/>
            <a:rect l="l" t="t" r="r" b="b"/>
            <a:pathLst>
              <a:path w="7979031" h="216822">
                <a:moveTo>
                  <a:pt x="0" y="0"/>
                </a:moveTo>
                <a:lnTo>
                  <a:pt x="7979031" y="0"/>
                </a:lnTo>
                <a:lnTo>
                  <a:pt x="7979031" y="216822"/>
                </a:lnTo>
                <a:lnTo>
                  <a:pt x="0" y="2168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49926" y="9209014"/>
            <a:ext cx="676971" cy="325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7"/>
              </a:lnSpc>
            </a:pPr>
            <a:r>
              <a:rPr lang="en-US" sz="1933" b="1">
                <a:solidFill>
                  <a:srgbClr val="1E1E1E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DATA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9926" y="9731618"/>
            <a:ext cx="3296554" cy="260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530">
                <a:solidFill>
                  <a:srgbClr val="1E1E1E"/>
                </a:solidFill>
                <a:latin typeface="Nourd Light"/>
                <a:ea typeface="Nourd Light"/>
                <a:cs typeface="Nourd Light"/>
                <a:sym typeface="Nourd Light"/>
              </a:rPr>
              <a:t>_______ /_______ /_______</a:t>
            </a:r>
          </a:p>
        </p:txBody>
      </p:sp>
      <p:sp>
        <p:nvSpPr>
          <p:cNvPr id="16" name="Freeform 16"/>
          <p:cNvSpPr/>
          <p:nvPr/>
        </p:nvSpPr>
        <p:spPr>
          <a:xfrm>
            <a:off x="515208" y="10537579"/>
            <a:ext cx="8802953" cy="3317369"/>
          </a:xfrm>
          <a:custGeom>
            <a:avLst/>
            <a:gdLst/>
            <a:ahLst/>
            <a:cxnLst/>
            <a:rect l="l" t="t" r="r" b="b"/>
            <a:pathLst>
              <a:path w="8802953" h="3317369">
                <a:moveTo>
                  <a:pt x="0" y="0"/>
                </a:moveTo>
                <a:lnTo>
                  <a:pt x="8802953" y="0"/>
                </a:lnTo>
                <a:lnTo>
                  <a:pt x="8802953" y="3317369"/>
                </a:lnTo>
                <a:lnTo>
                  <a:pt x="0" y="33173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27169" y="11567481"/>
            <a:ext cx="8185012" cy="216822"/>
          </a:xfrm>
          <a:custGeom>
            <a:avLst/>
            <a:gdLst/>
            <a:ahLst/>
            <a:cxnLst/>
            <a:rect l="l" t="t" r="r" b="b"/>
            <a:pathLst>
              <a:path w="8185012" h="216822">
                <a:moveTo>
                  <a:pt x="0" y="0"/>
                </a:moveTo>
                <a:lnTo>
                  <a:pt x="8185012" y="0"/>
                </a:lnTo>
                <a:lnTo>
                  <a:pt x="8185012" y="216821"/>
                </a:lnTo>
                <a:lnTo>
                  <a:pt x="0" y="2168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27169" y="11979442"/>
            <a:ext cx="8185012" cy="216822"/>
          </a:xfrm>
          <a:custGeom>
            <a:avLst/>
            <a:gdLst/>
            <a:ahLst/>
            <a:cxnLst/>
            <a:rect l="l" t="t" r="r" b="b"/>
            <a:pathLst>
              <a:path w="8185012" h="216822">
                <a:moveTo>
                  <a:pt x="0" y="0"/>
                </a:moveTo>
                <a:lnTo>
                  <a:pt x="8185012" y="0"/>
                </a:lnTo>
                <a:lnTo>
                  <a:pt x="8185012" y="216821"/>
                </a:lnTo>
                <a:lnTo>
                  <a:pt x="0" y="21682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927169" y="12608224"/>
            <a:ext cx="8185012" cy="216822"/>
          </a:xfrm>
          <a:custGeom>
            <a:avLst/>
            <a:gdLst/>
            <a:ahLst/>
            <a:cxnLst/>
            <a:rect l="l" t="t" r="r" b="b"/>
            <a:pathLst>
              <a:path w="8185012" h="216822">
                <a:moveTo>
                  <a:pt x="0" y="0"/>
                </a:moveTo>
                <a:lnTo>
                  <a:pt x="8185012" y="0"/>
                </a:lnTo>
                <a:lnTo>
                  <a:pt x="8185012" y="216822"/>
                </a:lnTo>
                <a:lnTo>
                  <a:pt x="0" y="21682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927169" y="13020185"/>
            <a:ext cx="8185012" cy="216822"/>
          </a:xfrm>
          <a:custGeom>
            <a:avLst/>
            <a:gdLst/>
            <a:ahLst/>
            <a:cxnLst/>
            <a:rect l="l" t="t" r="r" b="b"/>
            <a:pathLst>
              <a:path w="8185012" h="216822">
                <a:moveTo>
                  <a:pt x="0" y="0"/>
                </a:moveTo>
                <a:lnTo>
                  <a:pt x="8185012" y="0"/>
                </a:lnTo>
                <a:lnTo>
                  <a:pt x="8185012" y="216821"/>
                </a:lnTo>
                <a:lnTo>
                  <a:pt x="0" y="21682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4396313" y="13432146"/>
            <a:ext cx="834763" cy="628782"/>
          </a:xfrm>
          <a:custGeom>
            <a:avLst/>
            <a:gdLst/>
            <a:ahLst/>
            <a:cxnLst/>
            <a:rect l="l" t="t" r="r" b="b"/>
            <a:pathLst>
              <a:path w="834763" h="628782">
                <a:moveTo>
                  <a:pt x="0" y="0"/>
                </a:moveTo>
                <a:lnTo>
                  <a:pt x="834763" y="0"/>
                </a:lnTo>
                <a:lnTo>
                  <a:pt x="834763" y="628782"/>
                </a:lnTo>
                <a:lnTo>
                  <a:pt x="0" y="62878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849926" y="3386267"/>
            <a:ext cx="2168269" cy="391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 spc="112">
                <a:solidFill>
                  <a:srgbClr val="D1490E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DECLARAÇÃO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6527" y="10945069"/>
            <a:ext cx="1785634" cy="29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7"/>
              </a:lnSpc>
            </a:pPr>
            <a:r>
              <a:rPr lang="en-US" sz="1812" b="1">
                <a:solidFill>
                  <a:srgbClr val="1E1E1E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OBSERVAÇÕES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265" y="0"/>
            <a:ext cx="10055615" cy="14211300"/>
          </a:xfrm>
          <a:custGeom>
            <a:avLst/>
            <a:gdLst/>
            <a:ahLst/>
            <a:cxnLst/>
            <a:rect l="l" t="t" r="r" b="b"/>
            <a:pathLst>
              <a:path w="10055615" h="14211300">
                <a:moveTo>
                  <a:pt x="0" y="0"/>
                </a:moveTo>
                <a:lnTo>
                  <a:pt x="10055615" y="0"/>
                </a:lnTo>
                <a:lnTo>
                  <a:pt x="10055615" y="14211300"/>
                </a:lnTo>
                <a:lnTo>
                  <a:pt x="0" y="14211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306" b="1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375</Words>
  <Application>Microsoft Office PowerPoint</Application>
  <PresentationFormat>Personalizar</PresentationFormat>
  <Paragraphs>86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23" baseType="lpstr">
      <vt:lpstr>Cooper BT Light</vt:lpstr>
      <vt:lpstr>Nunito Bold</vt:lpstr>
      <vt:lpstr>Calibri</vt:lpstr>
      <vt:lpstr>Fraunces</vt:lpstr>
      <vt:lpstr>Nunito Semi-Bold</vt:lpstr>
      <vt:lpstr>Georgia Pro</vt:lpstr>
      <vt:lpstr>Nourd Semi-Bold</vt:lpstr>
      <vt:lpstr>Inter Bold</vt:lpstr>
      <vt:lpstr>Arial</vt:lpstr>
      <vt:lpstr>Nourd Light</vt:lpstr>
      <vt:lpstr>Nourd</vt:lpstr>
      <vt:lpstr>Nunito</vt:lpstr>
      <vt:lpstr>Nunito Ultra-Bold</vt:lpstr>
      <vt:lpstr>Inter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 BIEER</dc:title>
  <cp:lastModifiedBy>Lucas Moreira</cp:lastModifiedBy>
  <cp:revision>3</cp:revision>
  <dcterms:created xsi:type="dcterms:W3CDTF">2006-08-16T00:00:00Z</dcterms:created>
  <dcterms:modified xsi:type="dcterms:W3CDTF">2026-07-03T13:59:28Z</dcterms:modified>
  <dc:identifier>DAHORfhXOus</dc:identifier>
</cp:coreProperties>
</file>